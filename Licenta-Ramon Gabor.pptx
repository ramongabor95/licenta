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70" r:id="rId8"/>
    <p:sldId id="263" r:id="rId9"/>
    <p:sldId id="264" r:id="rId10"/>
    <p:sldId id="265" r:id="rId11"/>
    <p:sldId id="266" r:id="rId12"/>
    <p:sldId id="267" r:id="rId13"/>
    <p:sldId id="269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 mediu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3" autoAdjust="0"/>
    <p:restoredTop sz="94660"/>
  </p:normalViewPr>
  <p:slideViewPr>
    <p:cSldViewPr snapToGrid="0">
      <p:cViewPr varScale="1">
        <p:scale>
          <a:sx n="88" d="100"/>
          <a:sy n="88" d="100"/>
        </p:scale>
        <p:origin x="293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u diapozitiv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EFAC6E19-144F-4579-BCBB-85CCB81D46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o-RO"/>
              <a:t>Faceți clic pentru a edita stilul de titlu coordonator</a:t>
            </a:r>
            <a:endParaRPr lang="en-US"/>
          </a:p>
        </p:txBody>
      </p:sp>
      <p:sp>
        <p:nvSpPr>
          <p:cNvPr id="3" name="Subtitlu 2">
            <a:extLst>
              <a:ext uri="{FF2B5EF4-FFF2-40B4-BE49-F238E27FC236}">
                <a16:creationId xmlns:a16="http://schemas.microsoft.com/office/drawing/2014/main" id="{C0C676F2-AF78-4068-9D31-FDD6FD4869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o-RO"/>
              <a:t>Faceți clic pentru a edita stilul de subtitlu coordonator</a:t>
            </a:r>
            <a:endParaRPr lang="en-US"/>
          </a:p>
        </p:txBody>
      </p:sp>
      <p:sp>
        <p:nvSpPr>
          <p:cNvPr id="4" name="Substituent dată 3">
            <a:extLst>
              <a:ext uri="{FF2B5EF4-FFF2-40B4-BE49-F238E27FC236}">
                <a16:creationId xmlns:a16="http://schemas.microsoft.com/office/drawing/2014/main" id="{4908BA42-482E-43CA-BCA1-72AB804C3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98076-8502-4384-AB9E-CDB4361F1330}" type="datetimeFigureOut">
              <a:rPr lang="en-US" smtClean="0"/>
              <a:t>03-Jul-18</a:t>
            </a:fld>
            <a:endParaRPr lang="en-US"/>
          </a:p>
        </p:txBody>
      </p:sp>
      <p:sp>
        <p:nvSpPr>
          <p:cNvPr id="5" name="Substituent subsol 4">
            <a:extLst>
              <a:ext uri="{FF2B5EF4-FFF2-40B4-BE49-F238E27FC236}">
                <a16:creationId xmlns:a16="http://schemas.microsoft.com/office/drawing/2014/main" id="{13E1A075-9B84-4558-8171-A093E9217F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ubstituent număr diapozitiv 5">
            <a:extLst>
              <a:ext uri="{FF2B5EF4-FFF2-40B4-BE49-F238E27FC236}">
                <a16:creationId xmlns:a16="http://schemas.microsoft.com/office/drawing/2014/main" id="{A453DE61-C498-4E9B-99E3-6C048C9C30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40DFDF-0283-469B-8830-B337B2BAD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04232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u și conțin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1A236B4E-5BC0-4C10-87F9-F26A423F2A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/>
              <a:t>Faceți clic pentru a edita stilul de titlu coordonator</a:t>
            </a:r>
            <a:endParaRPr lang="en-US"/>
          </a:p>
        </p:txBody>
      </p:sp>
      <p:sp>
        <p:nvSpPr>
          <p:cNvPr id="3" name="Substituent conținut 2">
            <a:extLst>
              <a:ext uri="{FF2B5EF4-FFF2-40B4-BE49-F238E27FC236}">
                <a16:creationId xmlns:a16="http://schemas.microsoft.com/office/drawing/2014/main" id="{C6FE90CA-A1DD-4CC5-98A2-617347B427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o-RO"/>
              <a:t>Editați stilurile de text coordonator</a:t>
            </a:r>
          </a:p>
          <a:p>
            <a:pPr lvl="1"/>
            <a:r>
              <a:rPr lang="ro-RO"/>
              <a:t>Al doilea nivel</a:t>
            </a:r>
          </a:p>
          <a:p>
            <a:pPr lvl="2"/>
            <a:r>
              <a:rPr lang="ro-RO"/>
              <a:t>Al treilea nivel</a:t>
            </a:r>
          </a:p>
          <a:p>
            <a:pPr lvl="3"/>
            <a:r>
              <a:rPr lang="ro-RO"/>
              <a:t>Al patrulea nivel</a:t>
            </a:r>
          </a:p>
          <a:p>
            <a:pPr lvl="4"/>
            <a:r>
              <a:rPr lang="ro-RO"/>
              <a:t>Al cincilea nivel</a:t>
            </a:r>
            <a:endParaRPr lang="en-US"/>
          </a:p>
        </p:txBody>
      </p:sp>
      <p:sp>
        <p:nvSpPr>
          <p:cNvPr id="4" name="Substituent dată 3">
            <a:extLst>
              <a:ext uri="{FF2B5EF4-FFF2-40B4-BE49-F238E27FC236}">
                <a16:creationId xmlns:a16="http://schemas.microsoft.com/office/drawing/2014/main" id="{F7D912ED-9F37-4303-A192-95800FE2E4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98076-8502-4384-AB9E-CDB4361F1330}" type="datetimeFigureOut">
              <a:rPr lang="en-US" smtClean="0"/>
              <a:t>03-Jul-18</a:t>
            </a:fld>
            <a:endParaRPr lang="en-US"/>
          </a:p>
        </p:txBody>
      </p:sp>
      <p:sp>
        <p:nvSpPr>
          <p:cNvPr id="5" name="Substituent subsol 4">
            <a:extLst>
              <a:ext uri="{FF2B5EF4-FFF2-40B4-BE49-F238E27FC236}">
                <a16:creationId xmlns:a16="http://schemas.microsoft.com/office/drawing/2014/main" id="{B4524D48-94BA-441E-BC23-F67F8584CE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ubstituent număr diapozitiv 5">
            <a:extLst>
              <a:ext uri="{FF2B5EF4-FFF2-40B4-BE49-F238E27FC236}">
                <a16:creationId xmlns:a16="http://schemas.microsoft.com/office/drawing/2014/main" id="{EE87F534-591D-4C8E-B040-09F13EC929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40DFDF-0283-469B-8830-B337B2BAD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37871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ntet secțiu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C6B92CDF-84C8-47B1-BD3F-B576DD32F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o-RO"/>
              <a:t>Faceți clic pentru a edita stilul de titlu coordonator</a:t>
            </a:r>
            <a:endParaRPr lang="en-US"/>
          </a:p>
        </p:txBody>
      </p:sp>
      <p:sp>
        <p:nvSpPr>
          <p:cNvPr id="3" name="Substituent text 2">
            <a:extLst>
              <a:ext uri="{FF2B5EF4-FFF2-40B4-BE49-F238E27FC236}">
                <a16:creationId xmlns:a16="http://schemas.microsoft.com/office/drawing/2014/main" id="{3CF0E2D8-8C32-4923-96AC-989EC03E4B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o-RO"/>
              <a:t>Editați stilurile de text coordonator</a:t>
            </a:r>
          </a:p>
        </p:txBody>
      </p:sp>
      <p:sp>
        <p:nvSpPr>
          <p:cNvPr id="4" name="Substituent dată 3">
            <a:extLst>
              <a:ext uri="{FF2B5EF4-FFF2-40B4-BE49-F238E27FC236}">
                <a16:creationId xmlns:a16="http://schemas.microsoft.com/office/drawing/2014/main" id="{BB9523A4-4EB1-4E81-A88A-4C1118FBE8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98076-8502-4384-AB9E-CDB4361F1330}" type="datetimeFigureOut">
              <a:rPr lang="en-US" smtClean="0"/>
              <a:t>03-Jul-18</a:t>
            </a:fld>
            <a:endParaRPr lang="en-US"/>
          </a:p>
        </p:txBody>
      </p:sp>
      <p:sp>
        <p:nvSpPr>
          <p:cNvPr id="5" name="Substituent subsol 4">
            <a:extLst>
              <a:ext uri="{FF2B5EF4-FFF2-40B4-BE49-F238E27FC236}">
                <a16:creationId xmlns:a16="http://schemas.microsoft.com/office/drawing/2014/main" id="{B1D8BBC6-B361-406A-99C6-9E3AF37A30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ubstituent număr diapozitiv 5">
            <a:extLst>
              <a:ext uri="{FF2B5EF4-FFF2-40B4-BE49-F238E27FC236}">
                <a16:creationId xmlns:a16="http://schemas.microsoft.com/office/drawing/2014/main" id="{A5222182-E9D1-4E5C-8C9F-E0B815CB6D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40DFDF-0283-469B-8830-B337B2BAD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39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uă tipuri de conțin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155221DF-4D74-4735-B6C1-20D995A86E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/>
              <a:t>Faceți clic pentru a edita stilul de titlu coordonator</a:t>
            </a:r>
            <a:endParaRPr lang="en-US"/>
          </a:p>
        </p:txBody>
      </p:sp>
      <p:sp>
        <p:nvSpPr>
          <p:cNvPr id="3" name="Substituent conținut 2">
            <a:extLst>
              <a:ext uri="{FF2B5EF4-FFF2-40B4-BE49-F238E27FC236}">
                <a16:creationId xmlns:a16="http://schemas.microsoft.com/office/drawing/2014/main" id="{6263B4D9-81F2-405C-A9DA-64EE1F927F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o-RO"/>
              <a:t>Editați stilurile de text coordonator</a:t>
            </a:r>
          </a:p>
          <a:p>
            <a:pPr lvl="1"/>
            <a:r>
              <a:rPr lang="ro-RO"/>
              <a:t>Al doilea nivel</a:t>
            </a:r>
          </a:p>
          <a:p>
            <a:pPr lvl="2"/>
            <a:r>
              <a:rPr lang="ro-RO"/>
              <a:t>Al treilea nivel</a:t>
            </a:r>
          </a:p>
          <a:p>
            <a:pPr lvl="3"/>
            <a:r>
              <a:rPr lang="ro-RO"/>
              <a:t>Al patrulea nivel</a:t>
            </a:r>
          </a:p>
          <a:p>
            <a:pPr lvl="4"/>
            <a:r>
              <a:rPr lang="ro-RO"/>
              <a:t>Al cincilea nivel</a:t>
            </a:r>
            <a:endParaRPr lang="en-US"/>
          </a:p>
        </p:txBody>
      </p:sp>
      <p:sp>
        <p:nvSpPr>
          <p:cNvPr id="4" name="Substituent conținut 3">
            <a:extLst>
              <a:ext uri="{FF2B5EF4-FFF2-40B4-BE49-F238E27FC236}">
                <a16:creationId xmlns:a16="http://schemas.microsoft.com/office/drawing/2014/main" id="{998F69AA-D8A5-4613-B679-693E0E07E0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o-RO"/>
              <a:t>Editați stilurile de text coordonator</a:t>
            </a:r>
          </a:p>
          <a:p>
            <a:pPr lvl="1"/>
            <a:r>
              <a:rPr lang="ro-RO"/>
              <a:t>Al doilea nivel</a:t>
            </a:r>
          </a:p>
          <a:p>
            <a:pPr lvl="2"/>
            <a:r>
              <a:rPr lang="ro-RO"/>
              <a:t>Al treilea nivel</a:t>
            </a:r>
          </a:p>
          <a:p>
            <a:pPr lvl="3"/>
            <a:r>
              <a:rPr lang="ro-RO"/>
              <a:t>Al patrulea nivel</a:t>
            </a:r>
          </a:p>
          <a:p>
            <a:pPr lvl="4"/>
            <a:r>
              <a:rPr lang="ro-RO"/>
              <a:t>Al cincilea nivel</a:t>
            </a:r>
            <a:endParaRPr lang="en-US"/>
          </a:p>
        </p:txBody>
      </p:sp>
      <p:sp>
        <p:nvSpPr>
          <p:cNvPr id="5" name="Substituent dată 4">
            <a:extLst>
              <a:ext uri="{FF2B5EF4-FFF2-40B4-BE49-F238E27FC236}">
                <a16:creationId xmlns:a16="http://schemas.microsoft.com/office/drawing/2014/main" id="{2325CA22-BD6C-4185-824C-BA917DE193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98076-8502-4384-AB9E-CDB4361F1330}" type="datetimeFigureOut">
              <a:rPr lang="en-US" smtClean="0"/>
              <a:t>03-Jul-18</a:t>
            </a:fld>
            <a:endParaRPr lang="en-US"/>
          </a:p>
        </p:txBody>
      </p:sp>
      <p:sp>
        <p:nvSpPr>
          <p:cNvPr id="6" name="Substituent subsol 5">
            <a:extLst>
              <a:ext uri="{FF2B5EF4-FFF2-40B4-BE49-F238E27FC236}">
                <a16:creationId xmlns:a16="http://schemas.microsoft.com/office/drawing/2014/main" id="{F6BE968A-2BAF-4CA2-8C7C-F651FD9E3E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ubstituent număr diapozitiv 6">
            <a:extLst>
              <a:ext uri="{FF2B5EF4-FFF2-40B4-BE49-F238E27FC236}">
                <a16:creationId xmlns:a16="http://schemas.microsoft.com/office/drawing/2014/main" id="{01C90E4D-BA17-4259-BF70-6D36208B8C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40DFDF-0283-469B-8830-B337B2BAD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88942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ț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C3CE1168-36B7-45AA-B969-EA9C3037EA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o-RO"/>
              <a:t>Faceți clic pentru a edita stilul de titlu coordonator</a:t>
            </a:r>
            <a:endParaRPr lang="en-US"/>
          </a:p>
        </p:txBody>
      </p:sp>
      <p:sp>
        <p:nvSpPr>
          <p:cNvPr id="3" name="Substituent text 2">
            <a:extLst>
              <a:ext uri="{FF2B5EF4-FFF2-40B4-BE49-F238E27FC236}">
                <a16:creationId xmlns:a16="http://schemas.microsoft.com/office/drawing/2014/main" id="{FA1F2578-2108-4AF1-9D08-14CEB365FB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o-RO"/>
              <a:t>Editați stilurile de text coordonator</a:t>
            </a:r>
          </a:p>
        </p:txBody>
      </p:sp>
      <p:sp>
        <p:nvSpPr>
          <p:cNvPr id="4" name="Substituent conținut 3">
            <a:extLst>
              <a:ext uri="{FF2B5EF4-FFF2-40B4-BE49-F238E27FC236}">
                <a16:creationId xmlns:a16="http://schemas.microsoft.com/office/drawing/2014/main" id="{FECBCE1E-2F4D-4E6E-8F7B-854974D195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o-RO"/>
              <a:t>Editați stilurile de text coordonator</a:t>
            </a:r>
          </a:p>
          <a:p>
            <a:pPr lvl="1"/>
            <a:r>
              <a:rPr lang="ro-RO"/>
              <a:t>Al doilea nivel</a:t>
            </a:r>
          </a:p>
          <a:p>
            <a:pPr lvl="2"/>
            <a:r>
              <a:rPr lang="ro-RO"/>
              <a:t>Al treilea nivel</a:t>
            </a:r>
          </a:p>
          <a:p>
            <a:pPr lvl="3"/>
            <a:r>
              <a:rPr lang="ro-RO"/>
              <a:t>Al patrulea nivel</a:t>
            </a:r>
          </a:p>
          <a:p>
            <a:pPr lvl="4"/>
            <a:r>
              <a:rPr lang="ro-RO"/>
              <a:t>Al cincilea nivel</a:t>
            </a:r>
            <a:endParaRPr lang="en-US"/>
          </a:p>
        </p:txBody>
      </p:sp>
      <p:sp>
        <p:nvSpPr>
          <p:cNvPr id="5" name="Substituent text 4">
            <a:extLst>
              <a:ext uri="{FF2B5EF4-FFF2-40B4-BE49-F238E27FC236}">
                <a16:creationId xmlns:a16="http://schemas.microsoft.com/office/drawing/2014/main" id="{9B4881DF-663E-4EAF-B7C9-502E72775A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o-RO"/>
              <a:t>Editați stilurile de text coordonator</a:t>
            </a:r>
          </a:p>
        </p:txBody>
      </p:sp>
      <p:sp>
        <p:nvSpPr>
          <p:cNvPr id="6" name="Substituent conținut 5">
            <a:extLst>
              <a:ext uri="{FF2B5EF4-FFF2-40B4-BE49-F238E27FC236}">
                <a16:creationId xmlns:a16="http://schemas.microsoft.com/office/drawing/2014/main" id="{685CF90A-6FB5-4646-8819-AC2E95FF842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o-RO"/>
              <a:t>Editați stilurile de text coordonator</a:t>
            </a:r>
          </a:p>
          <a:p>
            <a:pPr lvl="1"/>
            <a:r>
              <a:rPr lang="ro-RO"/>
              <a:t>Al doilea nivel</a:t>
            </a:r>
          </a:p>
          <a:p>
            <a:pPr lvl="2"/>
            <a:r>
              <a:rPr lang="ro-RO"/>
              <a:t>Al treilea nivel</a:t>
            </a:r>
          </a:p>
          <a:p>
            <a:pPr lvl="3"/>
            <a:r>
              <a:rPr lang="ro-RO"/>
              <a:t>Al patrulea nivel</a:t>
            </a:r>
          </a:p>
          <a:p>
            <a:pPr lvl="4"/>
            <a:r>
              <a:rPr lang="ro-RO"/>
              <a:t>Al cincilea nivel</a:t>
            </a:r>
            <a:endParaRPr lang="en-US"/>
          </a:p>
        </p:txBody>
      </p:sp>
      <p:sp>
        <p:nvSpPr>
          <p:cNvPr id="7" name="Substituent dată 6">
            <a:extLst>
              <a:ext uri="{FF2B5EF4-FFF2-40B4-BE49-F238E27FC236}">
                <a16:creationId xmlns:a16="http://schemas.microsoft.com/office/drawing/2014/main" id="{0CFDD6AC-3240-4400-A658-BB5CDC1499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98076-8502-4384-AB9E-CDB4361F1330}" type="datetimeFigureOut">
              <a:rPr lang="en-US" smtClean="0"/>
              <a:t>03-Jul-18</a:t>
            </a:fld>
            <a:endParaRPr lang="en-US"/>
          </a:p>
        </p:txBody>
      </p:sp>
      <p:sp>
        <p:nvSpPr>
          <p:cNvPr id="8" name="Substituent subsol 7">
            <a:extLst>
              <a:ext uri="{FF2B5EF4-FFF2-40B4-BE49-F238E27FC236}">
                <a16:creationId xmlns:a16="http://schemas.microsoft.com/office/drawing/2014/main" id="{C3D828F9-F1FE-412D-BAAC-D406C9992F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ubstituent număr diapozitiv 8">
            <a:extLst>
              <a:ext uri="{FF2B5EF4-FFF2-40B4-BE49-F238E27FC236}">
                <a16:creationId xmlns:a16="http://schemas.microsoft.com/office/drawing/2014/main" id="{5277FCF8-6AAF-4F52-9379-C9379FE0D3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40DFDF-0283-469B-8830-B337B2BAD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46725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Doar titl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6AC43E44-FA6E-4FEB-B79D-F64104946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/>
              <a:t>Faceți clic pentru a edita stilul de titlu coordonator</a:t>
            </a:r>
            <a:endParaRPr lang="en-US"/>
          </a:p>
        </p:txBody>
      </p:sp>
      <p:sp>
        <p:nvSpPr>
          <p:cNvPr id="3" name="Substituent dată 2">
            <a:extLst>
              <a:ext uri="{FF2B5EF4-FFF2-40B4-BE49-F238E27FC236}">
                <a16:creationId xmlns:a16="http://schemas.microsoft.com/office/drawing/2014/main" id="{8DA89052-2AD3-4E79-9D6C-4A5B82B9F9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98076-8502-4384-AB9E-CDB4361F1330}" type="datetimeFigureOut">
              <a:rPr lang="en-US" smtClean="0"/>
              <a:t>03-Jul-18</a:t>
            </a:fld>
            <a:endParaRPr lang="en-US"/>
          </a:p>
        </p:txBody>
      </p:sp>
      <p:sp>
        <p:nvSpPr>
          <p:cNvPr id="4" name="Substituent subsol 3">
            <a:extLst>
              <a:ext uri="{FF2B5EF4-FFF2-40B4-BE49-F238E27FC236}">
                <a16:creationId xmlns:a16="http://schemas.microsoft.com/office/drawing/2014/main" id="{58E01724-1F65-49E5-8171-E726E1E660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ubstituent număr diapozitiv 4">
            <a:extLst>
              <a:ext uri="{FF2B5EF4-FFF2-40B4-BE49-F238E27FC236}">
                <a16:creationId xmlns:a16="http://schemas.microsoft.com/office/drawing/2014/main" id="{12F4B86A-A401-40F8-9F52-622498C2CE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40DFDF-0283-469B-8830-B337B2BAD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11161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Necomple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stituent dată 1">
            <a:extLst>
              <a:ext uri="{FF2B5EF4-FFF2-40B4-BE49-F238E27FC236}">
                <a16:creationId xmlns:a16="http://schemas.microsoft.com/office/drawing/2014/main" id="{0A14B550-557F-42C9-A577-C1FAEC216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98076-8502-4384-AB9E-CDB4361F1330}" type="datetimeFigureOut">
              <a:rPr lang="en-US" smtClean="0"/>
              <a:t>03-Jul-18</a:t>
            </a:fld>
            <a:endParaRPr lang="en-US"/>
          </a:p>
        </p:txBody>
      </p:sp>
      <p:sp>
        <p:nvSpPr>
          <p:cNvPr id="3" name="Substituent subsol 2">
            <a:extLst>
              <a:ext uri="{FF2B5EF4-FFF2-40B4-BE49-F238E27FC236}">
                <a16:creationId xmlns:a16="http://schemas.microsoft.com/office/drawing/2014/main" id="{812C3DD8-6736-42FD-831D-615DA8FAA9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ubstituent număr diapozitiv 3">
            <a:extLst>
              <a:ext uri="{FF2B5EF4-FFF2-40B4-BE49-F238E27FC236}">
                <a16:creationId xmlns:a16="http://schemas.microsoft.com/office/drawing/2014/main" id="{45A9E520-9CBF-4EF9-9582-6E92F9C8D1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40DFDF-0283-469B-8830-B337B2BAD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18845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ținut cu legend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288F4B19-19E3-4C1C-8530-853CE48EF0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o-RO"/>
              <a:t>Faceți clic pentru a edita stilul de titlu coordonator</a:t>
            </a:r>
            <a:endParaRPr lang="en-US"/>
          </a:p>
        </p:txBody>
      </p:sp>
      <p:sp>
        <p:nvSpPr>
          <p:cNvPr id="3" name="Substituent conținut 2">
            <a:extLst>
              <a:ext uri="{FF2B5EF4-FFF2-40B4-BE49-F238E27FC236}">
                <a16:creationId xmlns:a16="http://schemas.microsoft.com/office/drawing/2014/main" id="{376DE96F-0DE2-4E3F-8EE2-37A66DAA33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o-RO"/>
              <a:t>Editați stilurile de text coordonator</a:t>
            </a:r>
          </a:p>
          <a:p>
            <a:pPr lvl="1"/>
            <a:r>
              <a:rPr lang="ro-RO"/>
              <a:t>Al doilea nivel</a:t>
            </a:r>
          </a:p>
          <a:p>
            <a:pPr lvl="2"/>
            <a:r>
              <a:rPr lang="ro-RO"/>
              <a:t>Al treilea nivel</a:t>
            </a:r>
          </a:p>
          <a:p>
            <a:pPr lvl="3"/>
            <a:r>
              <a:rPr lang="ro-RO"/>
              <a:t>Al patrulea nivel</a:t>
            </a:r>
          </a:p>
          <a:p>
            <a:pPr lvl="4"/>
            <a:r>
              <a:rPr lang="ro-RO"/>
              <a:t>Al cincilea nivel</a:t>
            </a:r>
            <a:endParaRPr lang="en-US"/>
          </a:p>
        </p:txBody>
      </p:sp>
      <p:sp>
        <p:nvSpPr>
          <p:cNvPr id="4" name="Substituent text 3">
            <a:extLst>
              <a:ext uri="{FF2B5EF4-FFF2-40B4-BE49-F238E27FC236}">
                <a16:creationId xmlns:a16="http://schemas.microsoft.com/office/drawing/2014/main" id="{E47359A9-D3E9-4E72-8F71-E9A0899A5A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o-RO"/>
              <a:t>Editați stilurile de text coordonator</a:t>
            </a:r>
          </a:p>
        </p:txBody>
      </p:sp>
      <p:sp>
        <p:nvSpPr>
          <p:cNvPr id="5" name="Substituent dată 4">
            <a:extLst>
              <a:ext uri="{FF2B5EF4-FFF2-40B4-BE49-F238E27FC236}">
                <a16:creationId xmlns:a16="http://schemas.microsoft.com/office/drawing/2014/main" id="{81750EA1-94C4-49CD-85FE-511D3CBD77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98076-8502-4384-AB9E-CDB4361F1330}" type="datetimeFigureOut">
              <a:rPr lang="en-US" smtClean="0"/>
              <a:t>03-Jul-18</a:t>
            </a:fld>
            <a:endParaRPr lang="en-US"/>
          </a:p>
        </p:txBody>
      </p:sp>
      <p:sp>
        <p:nvSpPr>
          <p:cNvPr id="6" name="Substituent subsol 5">
            <a:extLst>
              <a:ext uri="{FF2B5EF4-FFF2-40B4-BE49-F238E27FC236}">
                <a16:creationId xmlns:a16="http://schemas.microsoft.com/office/drawing/2014/main" id="{B8E87056-C741-48D8-BCCF-A5B8CDB2D6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ubstituent număr diapozitiv 6">
            <a:extLst>
              <a:ext uri="{FF2B5EF4-FFF2-40B4-BE49-F238E27FC236}">
                <a16:creationId xmlns:a16="http://schemas.microsoft.com/office/drawing/2014/main" id="{B241BBB6-DA11-489C-8F38-FB2B18D3B2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40DFDF-0283-469B-8830-B337B2BAD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1825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ine cu legend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F4233963-09DC-45D0-B3E9-8EB7A0DE1D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o-RO"/>
              <a:t>Faceți clic pentru a edita stilul de titlu coordonator</a:t>
            </a:r>
            <a:endParaRPr lang="en-US"/>
          </a:p>
        </p:txBody>
      </p:sp>
      <p:sp>
        <p:nvSpPr>
          <p:cNvPr id="3" name="Substituent imagine 2">
            <a:extLst>
              <a:ext uri="{FF2B5EF4-FFF2-40B4-BE49-F238E27FC236}">
                <a16:creationId xmlns:a16="http://schemas.microsoft.com/office/drawing/2014/main" id="{EDA9CDFE-DD5D-48CA-A05B-A51AD25F2AA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Substituent text 3">
            <a:extLst>
              <a:ext uri="{FF2B5EF4-FFF2-40B4-BE49-F238E27FC236}">
                <a16:creationId xmlns:a16="http://schemas.microsoft.com/office/drawing/2014/main" id="{624B618C-AD88-42FC-98BB-E0AC16079A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o-RO"/>
              <a:t>Editați stilurile de text coordonator</a:t>
            </a:r>
          </a:p>
        </p:txBody>
      </p:sp>
      <p:sp>
        <p:nvSpPr>
          <p:cNvPr id="5" name="Substituent dată 4">
            <a:extLst>
              <a:ext uri="{FF2B5EF4-FFF2-40B4-BE49-F238E27FC236}">
                <a16:creationId xmlns:a16="http://schemas.microsoft.com/office/drawing/2014/main" id="{B65BB31F-3BB6-48A2-BBA1-5F9627E213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98076-8502-4384-AB9E-CDB4361F1330}" type="datetimeFigureOut">
              <a:rPr lang="en-US" smtClean="0"/>
              <a:t>03-Jul-18</a:t>
            </a:fld>
            <a:endParaRPr lang="en-US"/>
          </a:p>
        </p:txBody>
      </p:sp>
      <p:sp>
        <p:nvSpPr>
          <p:cNvPr id="6" name="Substituent subsol 5">
            <a:extLst>
              <a:ext uri="{FF2B5EF4-FFF2-40B4-BE49-F238E27FC236}">
                <a16:creationId xmlns:a16="http://schemas.microsoft.com/office/drawing/2014/main" id="{0EE2A285-F046-4466-8020-88B697F38D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ubstituent număr diapozitiv 6">
            <a:extLst>
              <a:ext uri="{FF2B5EF4-FFF2-40B4-BE49-F238E27FC236}">
                <a16:creationId xmlns:a16="http://schemas.microsoft.com/office/drawing/2014/main" id="{3DE341BD-8DBE-4230-A664-34DD4EF7A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40DFDF-0283-469B-8830-B337B2BAD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56673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ext vertical și titl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3FDDC257-6F84-49FF-B9FD-C43205A098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/>
              <a:t>Faceți clic pentru a edita stilul de titlu coordonator</a:t>
            </a:r>
            <a:endParaRPr lang="en-US"/>
          </a:p>
        </p:txBody>
      </p:sp>
      <p:sp>
        <p:nvSpPr>
          <p:cNvPr id="3" name="Substituent text vertical 2">
            <a:extLst>
              <a:ext uri="{FF2B5EF4-FFF2-40B4-BE49-F238E27FC236}">
                <a16:creationId xmlns:a16="http://schemas.microsoft.com/office/drawing/2014/main" id="{A88C2531-BCC3-4E0E-B635-17D5A99BAE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o-RO"/>
              <a:t>Editați stilurile de text coordonator</a:t>
            </a:r>
          </a:p>
          <a:p>
            <a:pPr lvl="1"/>
            <a:r>
              <a:rPr lang="ro-RO"/>
              <a:t>Al doilea nivel</a:t>
            </a:r>
          </a:p>
          <a:p>
            <a:pPr lvl="2"/>
            <a:r>
              <a:rPr lang="ro-RO"/>
              <a:t>Al treilea nivel</a:t>
            </a:r>
          </a:p>
          <a:p>
            <a:pPr lvl="3"/>
            <a:r>
              <a:rPr lang="ro-RO"/>
              <a:t>Al patrulea nivel</a:t>
            </a:r>
          </a:p>
          <a:p>
            <a:pPr lvl="4"/>
            <a:r>
              <a:rPr lang="ro-RO"/>
              <a:t>Al cincilea nivel</a:t>
            </a:r>
            <a:endParaRPr lang="en-US"/>
          </a:p>
        </p:txBody>
      </p:sp>
      <p:sp>
        <p:nvSpPr>
          <p:cNvPr id="4" name="Substituent dată 3">
            <a:extLst>
              <a:ext uri="{FF2B5EF4-FFF2-40B4-BE49-F238E27FC236}">
                <a16:creationId xmlns:a16="http://schemas.microsoft.com/office/drawing/2014/main" id="{D221C884-0D57-4407-A2B8-1F31BB67B7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98076-8502-4384-AB9E-CDB4361F1330}" type="datetimeFigureOut">
              <a:rPr lang="en-US" smtClean="0"/>
              <a:t>03-Jul-18</a:t>
            </a:fld>
            <a:endParaRPr lang="en-US"/>
          </a:p>
        </p:txBody>
      </p:sp>
      <p:sp>
        <p:nvSpPr>
          <p:cNvPr id="5" name="Substituent subsol 4">
            <a:extLst>
              <a:ext uri="{FF2B5EF4-FFF2-40B4-BE49-F238E27FC236}">
                <a16:creationId xmlns:a16="http://schemas.microsoft.com/office/drawing/2014/main" id="{08D190DF-9459-401C-9354-AA98DE61D8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ubstituent număr diapozitiv 5">
            <a:extLst>
              <a:ext uri="{FF2B5EF4-FFF2-40B4-BE49-F238E27FC236}">
                <a16:creationId xmlns:a16="http://schemas.microsoft.com/office/drawing/2014/main" id="{11AABADE-955F-4181-98AA-388F30B404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40DFDF-0283-469B-8830-B337B2BAD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4676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lu vertical și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vertical 1">
            <a:extLst>
              <a:ext uri="{FF2B5EF4-FFF2-40B4-BE49-F238E27FC236}">
                <a16:creationId xmlns:a16="http://schemas.microsoft.com/office/drawing/2014/main" id="{DCE8F1DE-9EE9-443C-BE10-16F4819B890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o-RO"/>
              <a:t>Faceți clic pentru a edita stilul de titlu coordonator</a:t>
            </a:r>
            <a:endParaRPr lang="en-US"/>
          </a:p>
        </p:txBody>
      </p:sp>
      <p:sp>
        <p:nvSpPr>
          <p:cNvPr id="3" name="Substituent text vertical 2">
            <a:extLst>
              <a:ext uri="{FF2B5EF4-FFF2-40B4-BE49-F238E27FC236}">
                <a16:creationId xmlns:a16="http://schemas.microsoft.com/office/drawing/2014/main" id="{73754E28-6F45-41CF-BA4E-4CD5BB1DFF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o-RO"/>
              <a:t>Editați stilurile de text coordonator</a:t>
            </a:r>
          </a:p>
          <a:p>
            <a:pPr lvl="1"/>
            <a:r>
              <a:rPr lang="ro-RO"/>
              <a:t>Al doilea nivel</a:t>
            </a:r>
          </a:p>
          <a:p>
            <a:pPr lvl="2"/>
            <a:r>
              <a:rPr lang="ro-RO"/>
              <a:t>Al treilea nivel</a:t>
            </a:r>
          </a:p>
          <a:p>
            <a:pPr lvl="3"/>
            <a:r>
              <a:rPr lang="ro-RO"/>
              <a:t>Al patrulea nivel</a:t>
            </a:r>
          </a:p>
          <a:p>
            <a:pPr lvl="4"/>
            <a:r>
              <a:rPr lang="ro-RO"/>
              <a:t>Al cincilea nivel</a:t>
            </a:r>
            <a:endParaRPr lang="en-US"/>
          </a:p>
        </p:txBody>
      </p:sp>
      <p:sp>
        <p:nvSpPr>
          <p:cNvPr id="4" name="Substituent dată 3">
            <a:extLst>
              <a:ext uri="{FF2B5EF4-FFF2-40B4-BE49-F238E27FC236}">
                <a16:creationId xmlns:a16="http://schemas.microsoft.com/office/drawing/2014/main" id="{F615346F-A3E4-43CE-9399-B2BC8D87FD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98076-8502-4384-AB9E-CDB4361F1330}" type="datetimeFigureOut">
              <a:rPr lang="en-US" smtClean="0"/>
              <a:t>03-Jul-18</a:t>
            </a:fld>
            <a:endParaRPr lang="en-US"/>
          </a:p>
        </p:txBody>
      </p:sp>
      <p:sp>
        <p:nvSpPr>
          <p:cNvPr id="5" name="Substituent subsol 4">
            <a:extLst>
              <a:ext uri="{FF2B5EF4-FFF2-40B4-BE49-F238E27FC236}">
                <a16:creationId xmlns:a16="http://schemas.microsoft.com/office/drawing/2014/main" id="{22900D38-B9E0-41D8-92AE-4405CB7CC4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ubstituent număr diapozitiv 5">
            <a:extLst>
              <a:ext uri="{FF2B5EF4-FFF2-40B4-BE49-F238E27FC236}">
                <a16:creationId xmlns:a16="http://schemas.microsoft.com/office/drawing/2014/main" id="{C4813699-D56D-4DB7-AB72-23D9572449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40DFDF-0283-469B-8830-B337B2BAD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47521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stituent titlu 1">
            <a:extLst>
              <a:ext uri="{FF2B5EF4-FFF2-40B4-BE49-F238E27FC236}">
                <a16:creationId xmlns:a16="http://schemas.microsoft.com/office/drawing/2014/main" id="{9B0E0C28-2BDA-45B6-A7C1-D117EB6732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o-RO"/>
              <a:t>Faceți clic pentru a edita stilul de titlu coordonator</a:t>
            </a:r>
            <a:endParaRPr lang="en-US"/>
          </a:p>
        </p:txBody>
      </p:sp>
      <p:sp>
        <p:nvSpPr>
          <p:cNvPr id="3" name="Substituent text 2">
            <a:extLst>
              <a:ext uri="{FF2B5EF4-FFF2-40B4-BE49-F238E27FC236}">
                <a16:creationId xmlns:a16="http://schemas.microsoft.com/office/drawing/2014/main" id="{E57CC166-D200-4FBC-B218-DC484A07B2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o-RO"/>
              <a:t>Editați stilurile de text coordonator</a:t>
            </a:r>
          </a:p>
          <a:p>
            <a:pPr lvl="1"/>
            <a:r>
              <a:rPr lang="ro-RO"/>
              <a:t>Al doilea nivel</a:t>
            </a:r>
          </a:p>
          <a:p>
            <a:pPr lvl="2"/>
            <a:r>
              <a:rPr lang="ro-RO"/>
              <a:t>Al treilea nivel</a:t>
            </a:r>
          </a:p>
          <a:p>
            <a:pPr lvl="3"/>
            <a:r>
              <a:rPr lang="ro-RO"/>
              <a:t>Al patrulea nivel</a:t>
            </a:r>
          </a:p>
          <a:p>
            <a:pPr lvl="4"/>
            <a:r>
              <a:rPr lang="ro-RO"/>
              <a:t>Al cincilea nivel</a:t>
            </a:r>
            <a:endParaRPr lang="en-US"/>
          </a:p>
        </p:txBody>
      </p:sp>
      <p:sp>
        <p:nvSpPr>
          <p:cNvPr id="4" name="Substituent dată 3">
            <a:extLst>
              <a:ext uri="{FF2B5EF4-FFF2-40B4-BE49-F238E27FC236}">
                <a16:creationId xmlns:a16="http://schemas.microsoft.com/office/drawing/2014/main" id="{A0F70335-09BC-48C0-976B-0926FFBA65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698076-8502-4384-AB9E-CDB4361F1330}" type="datetimeFigureOut">
              <a:rPr lang="en-US" smtClean="0"/>
              <a:t>03-Jul-18</a:t>
            </a:fld>
            <a:endParaRPr lang="en-US"/>
          </a:p>
        </p:txBody>
      </p:sp>
      <p:sp>
        <p:nvSpPr>
          <p:cNvPr id="5" name="Substituent subsol 4">
            <a:extLst>
              <a:ext uri="{FF2B5EF4-FFF2-40B4-BE49-F238E27FC236}">
                <a16:creationId xmlns:a16="http://schemas.microsoft.com/office/drawing/2014/main" id="{7632E35C-8D02-475B-A748-354C11ABC5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ubstituent număr diapozitiv 5">
            <a:extLst>
              <a:ext uri="{FF2B5EF4-FFF2-40B4-BE49-F238E27FC236}">
                <a16:creationId xmlns:a16="http://schemas.microsoft.com/office/drawing/2014/main" id="{697D9200-D178-4761-A92B-4571F2152F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40DFDF-0283-469B-8830-B337B2BADA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98577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9EAF7452-B953-4E80-AB37-5BE39925758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Blood Bank Management System</a:t>
            </a:r>
          </a:p>
        </p:txBody>
      </p:sp>
      <p:sp>
        <p:nvSpPr>
          <p:cNvPr id="3" name="Subtitlu 2">
            <a:extLst>
              <a:ext uri="{FF2B5EF4-FFF2-40B4-BE49-F238E27FC236}">
                <a16:creationId xmlns:a16="http://schemas.microsoft.com/office/drawing/2014/main" id="{FCE062EF-E3C7-4C94-BD01-27C476F4A5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7239" y="4989354"/>
            <a:ext cx="3222567" cy="1077218"/>
          </a:xfrm>
        </p:spPr>
        <p:txBody>
          <a:bodyPr>
            <a:normAutofit lnSpcReduction="10000"/>
          </a:bodyPr>
          <a:lstStyle/>
          <a:p>
            <a:r>
              <a:rPr lang="en-US" sz="3200" dirty="0"/>
              <a:t>Student,</a:t>
            </a:r>
          </a:p>
          <a:p>
            <a:r>
              <a:rPr lang="en-US" sz="3200" dirty="0"/>
              <a:t>Gabor Ramon</a:t>
            </a:r>
          </a:p>
        </p:txBody>
      </p:sp>
      <p:sp>
        <p:nvSpPr>
          <p:cNvPr id="4" name="CasetăText 3">
            <a:extLst>
              <a:ext uri="{FF2B5EF4-FFF2-40B4-BE49-F238E27FC236}">
                <a16:creationId xmlns:a16="http://schemas.microsoft.com/office/drawing/2014/main" id="{933E2C2B-DDE9-49FA-B15B-F34FDF03AC4C}"/>
              </a:ext>
            </a:extLst>
          </p:cNvPr>
          <p:cNvSpPr txBox="1"/>
          <p:nvPr/>
        </p:nvSpPr>
        <p:spPr>
          <a:xfrm>
            <a:off x="7155873" y="4989354"/>
            <a:ext cx="445192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 err="1"/>
              <a:t>Profesor</a:t>
            </a:r>
            <a:r>
              <a:rPr lang="en-US" sz="3200" dirty="0"/>
              <a:t> </a:t>
            </a:r>
            <a:r>
              <a:rPr lang="en-US" sz="3200" dirty="0" err="1"/>
              <a:t>coordonator</a:t>
            </a:r>
            <a:r>
              <a:rPr lang="en-US" sz="3200" dirty="0"/>
              <a:t>,</a:t>
            </a:r>
          </a:p>
          <a:p>
            <a:pPr algn="ctr"/>
            <a:r>
              <a:rPr lang="en-US" sz="3200" dirty="0"/>
              <a:t>Lect. Dr. </a:t>
            </a:r>
            <a:r>
              <a:rPr lang="en-US" sz="3200" dirty="0" err="1"/>
              <a:t>Arusoaie</a:t>
            </a:r>
            <a:r>
              <a:rPr lang="en-US" sz="3200" dirty="0"/>
              <a:t> Andrei</a:t>
            </a:r>
          </a:p>
        </p:txBody>
      </p:sp>
    </p:spTree>
    <p:extLst>
      <p:ext uri="{BB962C8B-B14F-4D97-AF65-F5344CB8AC3E}">
        <p14:creationId xmlns:p14="http://schemas.microsoft.com/office/powerpoint/2010/main" val="33340105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BD4309C6-F756-4DC3-98BB-387A4F6BB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 dirty="0" err="1"/>
              <a:t>Blood</a:t>
            </a:r>
            <a:r>
              <a:rPr lang="ro-RO" dirty="0"/>
              <a:t> Bank Management</a:t>
            </a:r>
            <a:endParaRPr lang="en-US" dirty="0"/>
          </a:p>
        </p:txBody>
      </p:sp>
      <p:sp>
        <p:nvSpPr>
          <p:cNvPr id="3" name="Substituent conținut 2">
            <a:extLst>
              <a:ext uri="{FF2B5EF4-FFF2-40B4-BE49-F238E27FC236}">
                <a16:creationId xmlns:a16="http://schemas.microsoft.com/office/drawing/2014/main" id="{8BDEBCAC-9DC8-4C79-861B-B13DA7C218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o-RO" dirty="0"/>
              <a:t>Situația actuală</a:t>
            </a:r>
            <a:endParaRPr lang="en-US" dirty="0"/>
          </a:p>
          <a:p>
            <a:pPr marL="0" indent="0" algn="just">
              <a:buNone/>
            </a:pPr>
            <a:r>
              <a:rPr lang="en-US" dirty="0"/>
              <a:t>	</a:t>
            </a:r>
            <a:r>
              <a:rPr lang="ro-RO" sz="2000" dirty="0"/>
              <a:t>1. </a:t>
            </a:r>
            <a:r>
              <a:rPr lang="en-US" sz="2000" dirty="0" err="1"/>
              <a:t>Decizia</a:t>
            </a:r>
            <a:r>
              <a:rPr lang="ro-RO" sz="2000" dirty="0"/>
              <a:t> este</a:t>
            </a:r>
            <a:r>
              <a:rPr lang="en-US" sz="2000" dirty="0"/>
              <a:t> </a:t>
            </a:r>
            <a:r>
              <a:rPr lang="ro-RO" sz="2000" dirty="0"/>
              <a:t>subiectivă în cadrul transfuziilor de sânge;</a:t>
            </a:r>
          </a:p>
          <a:p>
            <a:pPr marL="0" indent="0" algn="just">
              <a:buNone/>
            </a:pPr>
            <a:r>
              <a:rPr lang="ro-RO" sz="2000" dirty="0"/>
              <a:t>	2. Dificultatea de adaptare în cazul programelor cu interfețe complicate;</a:t>
            </a:r>
          </a:p>
          <a:p>
            <a:pPr marL="0" indent="0" algn="just">
              <a:buNone/>
            </a:pPr>
            <a:endParaRPr lang="ro-RO" sz="2000" dirty="0"/>
          </a:p>
          <a:p>
            <a:pPr marL="0" indent="0" algn="just">
              <a:buNone/>
            </a:pPr>
            <a:endParaRPr lang="ro-RO" sz="2000" dirty="0"/>
          </a:p>
          <a:p>
            <a:r>
              <a:rPr lang="ro-RO" dirty="0"/>
              <a:t>Exemple</a:t>
            </a:r>
          </a:p>
        </p:txBody>
      </p:sp>
    </p:spTree>
    <p:extLst>
      <p:ext uri="{BB962C8B-B14F-4D97-AF65-F5344CB8AC3E}">
        <p14:creationId xmlns:p14="http://schemas.microsoft.com/office/powerpoint/2010/main" val="3131291576"/>
      </p:ext>
    </p:extLst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stituent conținut 2">
            <a:extLst>
              <a:ext uri="{FF2B5EF4-FFF2-40B4-BE49-F238E27FC236}">
                <a16:creationId xmlns:a16="http://schemas.microsoft.com/office/drawing/2014/main" id="{C32DBC4B-88B6-4FB4-B912-97F4136134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71938"/>
            <a:ext cx="10515600" cy="2535786"/>
          </a:xfrm>
        </p:spPr>
        <p:txBody>
          <a:bodyPr/>
          <a:lstStyle/>
          <a:p>
            <a:pPr marL="0" indent="0">
              <a:buNone/>
            </a:pPr>
            <a:r>
              <a:rPr lang="ro-RO" dirty="0"/>
              <a:t>Decizia în cadrul transfuziilor de sânge</a:t>
            </a:r>
          </a:p>
          <a:p>
            <a:pPr marL="0" indent="0">
              <a:buNone/>
            </a:pPr>
            <a:endParaRPr lang="ro-RO" dirty="0"/>
          </a:p>
          <a:p>
            <a:pPr marL="457200" lvl="1" indent="0" algn="just">
              <a:buNone/>
            </a:pPr>
            <a:r>
              <a:rPr lang="ro-RO" sz="2000" dirty="0"/>
              <a:t>	- Lipsa de materie primă suficientă în băncile de sânge</a:t>
            </a:r>
          </a:p>
          <a:p>
            <a:pPr marL="457200" lvl="1" indent="0" algn="just">
              <a:buNone/>
            </a:pPr>
            <a:r>
              <a:rPr lang="ro-RO" sz="2000" dirty="0"/>
              <a:t>	- Decizia subiectivă, bazată pe sentimente nu este întotdeauna cea corectă</a:t>
            </a:r>
          </a:p>
        </p:txBody>
      </p:sp>
      <p:sp>
        <p:nvSpPr>
          <p:cNvPr id="4" name="CasetăText 3">
            <a:extLst>
              <a:ext uri="{FF2B5EF4-FFF2-40B4-BE49-F238E27FC236}">
                <a16:creationId xmlns:a16="http://schemas.microsoft.com/office/drawing/2014/main" id="{5EDFC08B-C5C4-4EFA-819F-193E955078C2}"/>
              </a:ext>
            </a:extLst>
          </p:cNvPr>
          <p:cNvSpPr txBox="1"/>
          <p:nvPr/>
        </p:nvSpPr>
        <p:spPr>
          <a:xfrm>
            <a:off x="798022" y="3532909"/>
            <a:ext cx="10598727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o-RO" sz="2800" dirty="0"/>
              <a:t>Soluții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ro-RO" sz="2800" dirty="0"/>
          </a:p>
          <a:p>
            <a:pPr algn="just"/>
            <a:r>
              <a:rPr lang="ro-RO" sz="2800" dirty="0"/>
              <a:t>	</a:t>
            </a:r>
            <a:r>
              <a:rPr lang="ro-RO" sz="2000" dirty="0"/>
              <a:t>- Ușurință în utilizarea unei aplicații de management de date</a:t>
            </a:r>
          </a:p>
          <a:p>
            <a:pPr algn="just"/>
            <a:r>
              <a:rPr lang="ro-RO" sz="2000" dirty="0"/>
              <a:t>	- Înlocuirea părții umane în luarea unei decizii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166936402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0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3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8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stituent conținut 2">
            <a:extLst>
              <a:ext uri="{FF2B5EF4-FFF2-40B4-BE49-F238E27FC236}">
                <a16:creationId xmlns:a16="http://schemas.microsoft.com/office/drawing/2014/main" id="{D9DE17CC-C47F-4CCF-BA7C-D80DB9E52D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28839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ro-RO" dirty="0"/>
              <a:t>Contribuții</a:t>
            </a:r>
          </a:p>
          <a:p>
            <a:pPr marL="0" indent="0">
              <a:buNone/>
            </a:pPr>
            <a:endParaRPr lang="ro-RO" dirty="0"/>
          </a:p>
          <a:p>
            <a:pPr marL="914400" lvl="1" indent="-457200">
              <a:buFont typeface="+mj-lt"/>
              <a:buAutoNum type="arabicParenR"/>
            </a:pPr>
            <a:r>
              <a:rPr lang="ro-RO" sz="2000" dirty="0"/>
              <a:t>Am ales să creez un sistem de gestiune a datelor dintr-o bancă de sânge printr-o interfață grafică interactivă și</a:t>
            </a:r>
            <a:r>
              <a:rPr lang="en-US" sz="2000" dirty="0"/>
              <a:t> </a:t>
            </a:r>
            <a:r>
              <a:rPr lang="ro-RO" sz="2000" dirty="0"/>
              <a:t>ușor</a:t>
            </a:r>
            <a:r>
              <a:rPr lang="en-US" sz="2000" dirty="0"/>
              <a:t> de </a:t>
            </a:r>
            <a:r>
              <a:rPr lang="ro-RO" sz="2000" dirty="0"/>
              <a:t>folosit</a:t>
            </a:r>
            <a:r>
              <a:rPr lang="en-US" sz="2000" dirty="0"/>
              <a:t>.</a:t>
            </a:r>
            <a:endParaRPr lang="ro-RO" sz="2000" dirty="0"/>
          </a:p>
          <a:p>
            <a:pPr marL="914400" lvl="1" indent="-457200">
              <a:buFont typeface="+mj-lt"/>
              <a:buAutoNum type="arabicParenR"/>
            </a:pPr>
            <a:endParaRPr lang="ro-RO" sz="2000" dirty="0"/>
          </a:p>
          <a:p>
            <a:pPr marL="914400" lvl="1" indent="-457200">
              <a:buFont typeface="+mj-lt"/>
              <a:buAutoNum type="arabicParenR"/>
            </a:pPr>
            <a:r>
              <a:rPr lang="ro-RO" sz="2000" dirty="0"/>
              <a:t>Am creat un algoritm care decide în absența unui medic cine va primi o transfuzie de sânge în lipsa materiei prime suficiente.</a:t>
            </a:r>
          </a:p>
          <a:p>
            <a:pPr marL="914400" lvl="1" indent="-457200">
              <a:buFont typeface="+mj-lt"/>
              <a:buAutoNum type="arabicParenR"/>
            </a:pPr>
            <a:endParaRPr lang="ro-RO" sz="2000" dirty="0"/>
          </a:p>
          <a:p>
            <a:pPr marL="914400" lvl="1" indent="-457200">
              <a:buFont typeface="+mj-lt"/>
              <a:buAutoNum type="arabicParenR"/>
            </a:pPr>
            <a:r>
              <a:rPr lang="ro-RO" sz="2000" dirty="0"/>
              <a:t>Algoritmul va decide rezultatul pe baza condițiilor medicale și a caracteristicilor personale ale mai multor pacienți ce necesită o transfuzie.</a:t>
            </a:r>
          </a:p>
        </p:txBody>
      </p:sp>
    </p:spTree>
    <p:extLst>
      <p:ext uri="{BB962C8B-B14F-4D97-AF65-F5344CB8AC3E}">
        <p14:creationId xmlns:p14="http://schemas.microsoft.com/office/powerpoint/2010/main" val="933064545"/>
      </p:ext>
    </p:extLst>
  </p:cSld>
  <p:clrMapOvr>
    <a:masterClrMapping/>
  </p:clrMapOvr>
  <p:transition spd="slow">
    <p:wip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E7CDFDD3-714D-482E-B2A7-B428DAEE8A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 dirty="0"/>
              <a:t>Soluția propusă</a:t>
            </a:r>
            <a:endParaRPr lang="en-US" dirty="0"/>
          </a:p>
        </p:txBody>
      </p:sp>
      <p:sp>
        <p:nvSpPr>
          <p:cNvPr id="3" name="Substituent conținut 2">
            <a:extLst>
              <a:ext uri="{FF2B5EF4-FFF2-40B4-BE49-F238E27FC236}">
                <a16:creationId xmlns:a16="http://schemas.microsoft.com/office/drawing/2014/main" id="{32C7A397-D804-48B1-A9F4-F54B621DC6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ro-RO" dirty="0"/>
              <a:t>Aplicația dispune de următoarele funcționalități:</a:t>
            </a:r>
          </a:p>
          <a:p>
            <a:pPr algn="just"/>
            <a:endParaRPr lang="ro-RO" dirty="0"/>
          </a:p>
          <a:p>
            <a:pPr lvl="1" algn="just"/>
            <a:r>
              <a:rPr lang="ro-RO" dirty="0"/>
              <a:t>Managementul datelor personale și medicale ale donatorilor de sânge</a:t>
            </a:r>
            <a:r>
              <a:rPr lang="en-US" dirty="0"/>
              <a:t>;</a:t>
            </a:r>
            <a:endParaRPr lang="ro-RO" dirty="0"/>
          </a:p>
          <a:p>
            <a:pPr lvl="1" algn="just"/>
            <a:r>
              <a:rPr lang="ro-RO" dirty="0"/>
              <a:t>Managementul datelor despre analizele sângelui recoltat de la donatori</a:t>
            </a:r>
            <a:r>
              <a:rPr lang="en-US" dirty="0"/>
              <a:t>;</a:t>
            </a:r>
            <a:endParaRPr lang="ro-RO" dirty="0"/>
          </a:p>
          <a:p>
            <a:pPr lvl="1" algn="just"/>
            <a:r>
              <a:rPr lang="ro-RO" dirty="0"/>
              <a:t>Decartarea sângelui ce a depășit 42 de zile de depozitare</a:t>
            </a:r>
            <a:r>
              <a:rPr lang="en-US" dirty="0"/>
              <a:t>;</a:t>
            </a:r>
            <a:endParaRPr lang="ro-RO" dirty="0"/>
          </a:p>
          <a:p>
            <a:pPr lvl="1" algn="just"/>
            <a:r>
              <a:rPr lang="ro-RO" dirty="0"/>
              <a:t>Managementul cererilor de sânge din cadrul mai multor bănci și folosirea la nevoie a unui algoritm de decizie care hotărăște persoanele cele mai eligibile pentru a primi o transfuzie de sânge</a:t>
            </a:r>
            <a:r>
              <a:rPr lang="en-US" dirty="0"/>
              <a:t>;</a:t>
            </a:r>
            <a:endParaRPr lang="ro-RO" dirty="0"/>
          </a:p>
          <a:p>
            <a:pPr lvl="1" algn="just"/>
            <a:r>
              <a:rPr lang="ro-RO" dirty="0"/>
              <a:t>Verificarea permanentă a compatibilității grupei și a RH-ului sanguin în cadrul cererilor.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3918322"/>
      </p:ext>
    </p:extLst>
  </p:cSld>
  <p:clrMapOvr>
    <a:masterClrMapping/>
  </p:clrMapOvr>
  <p:transition spd="slow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7E4AFC02-0948-4203-9D25-5958472B57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 dirty="0"/>
              <a:t>Arhitectura</a:t>
            </a:r>
            <a:endParaRPr lang="en-US" dirty="0"/>
          </a:p>
        </p:txBody>
      </p:sp>
      <p:pic>
        <p:nvPicPr>
          <p:cNvPr id="5" name="Substituent conținut 4">
            <a:extLst>
              <a:ext uri="{FF2B5EF4-FFF2-40B4-BE49-F238E27FC236}">
                <a16:creationId xmlns:a16="http://schemas.microsoft.com/office/drawing/2014/main" id="{366F020C-A279-4932-ADB5-3AAD48E859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922" y="2470322"/>
            <a:ext cx="9657224" cy="2072121"/>
          </a:xfrm>
        </p:spPr>
      </p:pic>
    </p:spTree>
    <p:extLst>
      <p:ext uri="{BB962C8B-B14F-4D97-AF65-F5344CB8AC3E}">
        <p14:creationId xmlns:p14="http://schemas.microsoft.com/office/powerpoint/2010/main" val="1378600734"/>
      </p:ext>
    </p:extLst>
  </p:cSld>
  <p:clrMapOvr>
    <a:masterClrMapping/>
  </p:clrMapOvr>
  <p:transition spd="slow">
    <p:wip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C90BB9D7-122F-4AC9-9097-35B64BE744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o-RO" dirty="0"/>
              <a:t>Algoritmul de decizie</a:t>
            </a:r>
            <a:endParaRPr lang="en-US" dirty="0"/>
          </a:p>
        </p:txBody>
      </p:sp>
      <p:pic>
        <p:nvPicPr>
          <p:cNvPr id="5" name="Substituent conținut 4">
            <a:extLst>
              <a:ext uri="{FF2B5EF4-FFF2-40B4-BE49-F238E27FC236}">
                <a16:creationId xmlns:a16="http://schemas.microsoft.com/office/drawing/2014/main" id="{CA0762E8-9E2B-4815-8EE8-3BAAD76BECE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3033" y="1611914"/>
            <a:ext cx="4992225" cy="4565049"/>
          </a:xfrm>
        </p:spPr>
      </p:pic>
    </p:spTree>
    <p:extLst>
      <p:ext uri="{BB962C8B-B14F-4D97-AF65-F5344CB8AC3E}">
        <p14:creationId xmlns:p14="http://schemas.microsoft.com/office/powerpoint/2010/main" val="3690242886"/>
      </p:ext>
    </p:extLst>
  </p:cSld>
  <p:clrMapOvr>
    <a:masterClrMapping/>
  </p:clrMapOvr>
  <p:transition spd="slow">
    <p:wip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EF3DA08E-F614-4248-A72B-9742EAEA8A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 dirty="0"/>
              <a:t>Experimente</a:t>
            </a:r>
            <a:endParaRPr lang="en-US" dirty="0"/>
          </a:p>
        </p:txBody>
      </p:sp>
      <p:graphicFrame>
        <p:nvGraphicFramePr>
          <p:cNvPr id="4" name="Substituent conținut 3">
            <a:extLst>
              <a:ext uri="{FF2B5EF4-FFF2-40B4-BE49-F238E27FC236}">
                <a16:creationId xmlns:a16="http://schemas.microsoft.com/office/drawing/2014/main" id="{2F55407F-EF87-4D59-8232-D6529F34642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74250535"/>
              </p:ext>
            </p:extLst>
          </p:nvPr>
        </p:nvGraphicFramePr>
        <p:xfrm>
          <a:off x="838200" y="1925378"/>
          <a:ext cx="1051560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2614803358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920072549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2802814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Pacient 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Pacient 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360207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Tipul de urgență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Urgent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Imediat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02116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Șanse de supraviețuire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50% - 100%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50% - 100%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11377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Vârsta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Între 10 – 20 de ani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Între 60 – 70 de ani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77606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Greutate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Sub 80 de kg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Între 80 – 150 kg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52637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Înălțime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Între 1.20 – 1.80 m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Peste 1.80 m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6437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Cantitatea de sânge pierdută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Între 1 – 2 litrii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Între 0 – 1 litrii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4412960"/>
                  </a:ext>
                </a:extLst>
              </a:tr>
            </a:tbl>
          </a:graphicData>
        </a:graphic>
      </p:graphicFrame>
      <p:sp>
        <p:nvSpPr>
          <p:cNvPr id="5" name="CasetăText 4">
            <a:extLst>
              <a:ext uri="{FF2B5EF4-FFF2-40B4-BE49-F238E27FC236}">
                <a16:creationId xmlns:a16="http://schemas.microsoft.com/office/drawing/2014/main" id="{DC2D5014-E449-405D-B270-78CB3E6DB145}"/>
              </a:ext>
            </a:extLst>
          </p:cNvPr>
          <p:cNvSpPr txBox="1"/>
          <p:nvPr/>
        </p:nvSpPr>
        <p:spPr>
          <a:xfrm>
            <a:off x="838200" y="4954385"/>
            <a:ext cx="377536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r>
              <a:rPr lang="en-US" dirty="0"/>
              <a:t>• </a:t>
            </a:r>
            <a:r>
              <a:rPr lang="en-US" dirty="0" err="1"/>
              <a:t>Scorul</a:t>
            </a:r>
            <a:r>
              <a:rPr lang="en-US" dirty="0"/>
              <a:t> </a:t>
            </a:r>
            <a:r>
              <a:rPr lang="en-US" dirty="0" err="1"/>
              <a:t>pentru</a:t>
            </a:r>
            <a:r>
              <a:rPr lang="en-US" dirty="0"/>
              <a:t> </a:t>
            </a:r>
            <a:r>
              <a:rPr lang="en-US" dirty="0" err="1"/>
              <a:t>Pacientul</a:t>
            </a:r>
            <a:r>
              <a:rPr lang="en-US" dirty="0"/>
              <a:t> 1 </a:t>
            </a:r>
            <a:r>
              <a:rPr lang="en-US" dirty="0" err="1"/>
              <a:t>este</a:t>
            </a:r>
            <a:r>
              <a:rPr lang="en-US" dirty="0"/>
              <a:t> 630 </a:t>
            </a:r>
          </a:p>
          <a:p>
            <a:r>
              <a:rPr lang="en-US" dirty="0"/>
              <a:t>• </a:t>
            </a:r>
            <a:r>
              <a:rPr lang="en-US" dirty="0" err="1"/>
              <a:t>Scorul</a:t>
            </a:r>
            <a:r>
              <a:rPr lang="en-US" dirty="0"/>
              <a:t> </a:t>
            </a:r>
            <a:r>
              <a:rPr lang="en-US" dirty="0" err="1"/>
              <a:t>pentru</a:t>
            </a:r>
            <a:r>
              <a:rPr lang="en-US" dirty="0"/>
              <a:t> </a:t>
            </a:r>
            <a:r>
              <a:rPr lang="en-US" dirty="0" err="1"/>
              <a:t>Pacientul</a:t>
            </a:r>
            <a:r>
              <a:rPr lang="en-US" dirty="0"/>
              <a:t> 2 </a:t>
            </a:r>
            <a:r>
              <a:rPr lang="en-US" dirty="0" err="1"/>
              <a:t>este</a:t>
            </a:r>
            <a:r>
              <a:rPr lang="en-US" dirty="0"/>
              <a:t> 610 </a:t>
            </a:r>
          </a:p>
        </p:txBody>
      </p:sp>
    </p:spTree>
    <p:extLst>
      <p:ext uri="{BB962C8B-B14F-4D97-AF65-F5344CB8AC3E}">
        <p14:creationId xmlns:p14="http://schemas.microsoft.com/office/powerpoint/2010/main" val="1956929145"/>
      </p:ext>
    </p:extLst>
  </p:cSld>
  <p:clrMapOvr>
    <a:masterClrMapping/>
  </p:clrMapOvr>
  <p:transition spd="slow">
    <p:wip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Substituent conținut 3">
            <a:extLst>
              <a:ext uri="{FF2B5EF4-FFF2-40B4-BE49-F238E27FC236}">
                <a16:creationId xmlns:a16="http://schemas.microsoft.com/office/drawing/2014/main" id="{2F55407F-EF87-4D59-8232-D6529F34642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19615969"/>
              </p:ext>
            </p:extLst>
          </p:nvPr>
        </p:nvGraphicFramePr>
        <p:xfrm>
          <a:off x="838200" y="1052542"/>
          <a:ext cx="1051560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2614803358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920072549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2802814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Pacient 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Pacient 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360207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Tipul de urgență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Urgent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Urgent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02116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Șanse de supraviețuire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0% - 50%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50% - 100%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11377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Vârsta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Între 20 – 30 de ani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Între 60 – 70 de ani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77606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Greutate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Între 80 – 150 kg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Sub 80 de kg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52637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Înălțime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Peste 1.80 m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Între 1.20 – 1.80 m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6437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Cantitatea de sânge pierdută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Între 1 – 2 litrii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Între 2 – 3 litrii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4412960"/>
                  </a:ext>
                </a:extLst>
              </a:tr>
            </a:tbl>
          </a:graphicData>
        </a:graphic>
      </p:graphicFrame>
      <p:sp>
        <p:nvSpPr>
          <p:cNvPr id="5" name="CasetăText 4">
            <a:extLst>
              <a:ext uri="{FF2B5EF4-FFF2-40B4-BE49-F238E27FC236}">
                <a16:creationId xmlns:a16="http://schemas.microsoft.com/office/drawing/2014/main" id="{DC2D5014-E449-405D-B270-78CB3E6DB145}"/>
              </a:ext>
            </a:extLst>
          </p:cNvPr>
          <p:cNvSpPr txBox="1"/>
          <p:nvPr/>
        </p:nvSpPr>
        <p:spPr>
          <a:xfrm>
            <a:off x="838200" y="4081548"/>
            <a:ext cx="377536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r>
              <a:rPr lang="en-US" dirty="0"/>
              <a:t>• </a:t>
            </a:r>
            <a:r>
              <a:rPr lang="en-US" dirty="0" err="1"/>
              <a:t>Scorul</a:t>
            </a:r>
            <a:r>
              <a:rPr lang="en-US" dirty="0"/>
              <a:t> </a:t>
            </a:r>
            <a:r>
              <a:rPr lang="en-US" dirty="0" err="1"/>
              <a:t>pentru</a:t>
            </a:r>
            <a:r>
              <a:rPr lang="en-US" dirty="0"/>
              <a:t> </a:t>
            </a:r>
            <a:r>
              <a:rPr lang="en-US" dirty="0" err="1"/>
              <a:t>Pacientul</a:t>
            </a:r>
            <a:r>
              <a:rPr lang="en-US" dirty="0"/>
              <a:t> 1 </a:t>
            </a:r>
            <a:r>
              <a:rPr lang="en-US" dirty="0" err="1"/>
              <a:t>este</a:t>
            </a:r>
            <a:r>
              <a:rPr lang="en-US" dirty="0"/>
              <a:t> </a:t>
            </a:r>
            <a:r>
              <a:rPr lang="ro-RO" dirty="0"/>
              <a:t>500</a:t>
            </a:r>
            <a:r>
              <a:rPr lang="en-US" dirty="0"/>
              <a:t> </a:t>
            </a:r>
          </a:p>
          <a:p>
            <a:r>
              <a:rPr lang="en-US" dirty="0"/>
              <a:t>• </a:t>
            </a:r>
            <a:r>
              <a:rPr lang="en-US" dirty="0" err="1"/>
              <a:t>Scorul</a:t>
            </a:r>
            <a:r>
              <a:rPr lang="en-US" dirty="0"/>
              <a:t> </a:t>
            </a:r>
            <a:r>
              <a:rPr lang="en-US" dirty="0" err="1"/>
              <a:t>pentru</a:t>
            </a:r>
            <a:r>
              <a:rPr lang="en-US" dirty="0"/>
              <a:t> </a:t>
            </a:r>
            <a:r>
              <a:rPr lang="en-US" dirty="0" err="1"/>
              <a:t>Pacientul</a:t>
            </a:r>
            <a:r>
              <a:rPr lang="en-US" dirty="0"/>
              <a:t> 2 </a:t>
            </a:r>
            <a:r>
              <a:rPr lang="en-US" dirty="0" err="1"/>
              <a:t>este</a:t>
            </a:r>
            <a:r>
              <a:rPr lang="en-US" dirty="0"/>
              <a:t> </a:t>
            </a:r>
            <a:r>
              <a:rPr lang="ro-RO" dirty="0"/>
              <a:t>630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28470726"/>
      </p:ext>
    </p:extLst>
  </p:cSld>
  <p:clrMapOvr>
    <a:masterClrMapping/>
  </p:clrMapOvr>
  <p:transition spd="slow">
    <p:wip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Substituent conținut 3">
            <a:extLst>
              <a:ext uri="{FF2B5EF4-FFF2-40B4-BE49-F238E27FC236}">
                <a16:creationId xmlns:a16="http://schemas.microsoft.com/office/drawing/2014/main" id="{2F55407F-EF87-4D59-8232-D6529F34642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03225212"/>
              </p:ext>
            </p:extLst>
          </p:nvPr>
        </p:nvGraphicFramePr>
        <p:xfrm>
          <a:off x="838200" y="1052542"/>
          <a:ext cx="1051560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2614803358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920072549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2802814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Pacient 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Pacient 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360207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Tipul de urgență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Urgent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Imediat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02116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Șanse de supraviețuire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50% - 100%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50% - 100%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11377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Vârsta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Între 10 – 20 de ani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Între 60 – 70 de ani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77606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Greutate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Sub 80 de kg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Sub 80 de kg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52637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Înălțime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Între 1.20 – 1.80 m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Între 1.20 – 1.80 m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6437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Cantitatea de sânge pierdută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Între 1 – 2 litrii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o-RO" dirty="0"/>
                        <a:t>Între 0 – 1 litrii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4412960"/>
                  </a:ext>
                </a:extLst>
              </a:tr>
            </a:tbl>
          </a:graphicData>
        </a:graphic>
      </p:graphicFrame>
      <p:sp>
        <p:nvSpPr>
          <p:cNvPr id="5" name="CasetăText 4">
            <a:extLst>
              <a:ext uri="{FF2B5EF4-FFF2-40B4-BE49-F238E27FC236}">
                <a16:creationId xmlns:a16="http://schemas.microsoft.com/office/drawing/2014/main" id="{DC2D5014-E449-405D-B270-78CB3E6DB145}"/>
              </a:ext>
            </a:extLst>
          </p:cNvPr>
          <p:cNvSpPr txBox="1"/>
          <p:nvPr/>
        </p:nvSpPr>
        <p:spPr>
          <a:xfrm>
            <a:off x="838200" y="4081548"/>
            <a:ext cx="377536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r>
              <a:rPr lang="en-US" dirty="0"/>
              <a:t>• </a:t>
            </a:r>
            <a:r>
              <a:rPr lang="en-US" dirty="0" err="1"/>
              <a:t>Scorul</a:t>
            </a:r>
            <a:r>
              <a:rPr lang="en-US" dirty="0"/>
              <a:t> </a:t>
            </a:r>
            <a:r>
              <a:rPr lang="en-US" dirty="0" err="1"/>
              <a:t>pentru</a:t>
            </a:r>
            <a:r>
              <a:rPr lang="en-US" dirty="0"/>
              <a:t> </a:t>
            </a:r>
            <a:r>
              <a:rPr lang="en-US" dirty="0" err="1"/>
              <a:t>Pacientul</a:t>
            </a:r>
            <a:r>
              <a:rPr lang="en-US" dirty="0"/>
              <a:t> 1 </a:t>
            </a:r>
            <a:r>
              <a:rPr lang="en-US" dirty="0" err="1"/>
              <a:t>este</a:t>
            </a:r>
            <a:r>
              <a:rPr lang="en-US" dirty="0"/>
              <a:t> </a:t>
            </a:r>
            <a:r>
              <a:rPr lang="ro-RO" dirty="0"/>
              <a:t>630</a:t>
            </a:r>
            <a:r>
              <a:rPr lang="en-US" dirty="0"/>
              <a:t> </a:t>
            </a:r>
          </a:p>
          <a:p>
            <a:r>
              <a:rPr lang="en-US" dirty="0"/>
              <a:t>• </a:t>
            </a:r>
            <a:r>
              <a:rPr lang="en-US" dirty="0" err="1"/>
              <a:t>Scorul</a:t>
            </a:r>
            <a:r>
              <a:rPr lang="en-US" dirty="0"/>
              <a:t> </a:t>
            </a:r>
            <a:r>
              <a:rPr lang="en-US" dirty="0" err="1"/>
              <a:t>pentru</a:t>
            </a:r>
            <a:r>
              <a:rPr lang="en-US" dirty="0"/>
              <a:t> </a:t>
            </a:r>
            <a:r>
              <a:rPr lang="en-US" dirty="0" err="1"/>
              <a:t>Pacientul</a:t>
            </a:r>
            <a:r>
              <a:rPr lang="en-US" dirty="0"/>
              <a:t> 2 </a:t>
            </a:r>
            <a:r>
              <a:rPr lang="en-US" dirty="0" err="1"/>
              <a:t>este</a:t>
            </a:r>
            <a:r>
              <a:rPr lang="en-US" dirty="0"/>
              <a:t> </a:t>
            </a:r>
            <a:r>
              <a:rPr lang="ro-RO" dirty="0"/>
              <a:t>630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052725419"/>
      </p:ext>
    </p:extLst>
  </p:cSld>
  <p:clrMapOvr>
    <a:masterClrMapping/>
  </p:clrMapOvr>
  <p:transition spd="slow">
    <p:wip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708CE915-170C-4CFD-AD08-AA75D1D816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 dirty="0" err="1"/>
              <a:t>Demo</a:t>
            </a:r>
            <a:endParaRPr lang="en-US" dirty="0"/>
          </a:p>
        </p:txBody>
      </p:sp>
      <p:sp>
        <p:nvSpPr>
          <p:cNvPr id="3" name="Substituent conținut 2">
            <a:extLst>
              <a:ext uri="{FF2B5EF4-FFF2-40B4-BE49-F238E27FC236}">
                <a16:creationId xmlns:a16="http://schemas.microsoft.com/office/drawing/2014/main" id="{CB2A70B1-BE26-4EA3-9FD7-DFCA56202C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https://www.youtube.com/watch?v=NG29ArAEDvY</a:t>
            </a:r>
          </a:p>
        </p:txBody>
      </p:sp>
    </p:spTree>
    <p:extLst>
      <p:ext uri="{BB962C8B-B14F-4D97-AF65-F5344CB8AC3E}">
        <p14:creationId xmlns:p14="http://schemas.microsoft.com/office/powerpoint/2010/main" val="3385706030"/>
      </p:ext>
    </p:extLst>
  </p:cSld>
  <p:clrMapOvr>
    <a:masterClrMapping/>
  </p:clrMapOvr>
  <p:transition spd="slow">
    <p:wip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DF534701-25A8-41BC-B894-E858A6723B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 dirty="0"/>
              <a:t>Concluzii</a:t>
            </a:r>
            <a:endParaRPr lang="en-US" dirty="0"/>
          </a:p>
        </p:txBody>
      </p:sp>
      <p:sp>
        <p:nvSpPr>
          <p:cNvPr id="3" name="Substituent conținut 2">
            <a:extLst>
              <a:ext uri="{FF2B5EF4-FFF2-40B4-BE49-F238E27FC236}">
                <a16:creationId xmlns:a16="http://schemas.microsoft.com/office/drawing/2014/main" id="{233079B7-516C-409E-B41D-236F53D878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ro-RO" dirty="0"/>
              <a:t>Aplicația vine în ajutorul medicilor prin interfața grafică prietenoasă și prin algoritmul de decizie.</a:t>
            </a:r>
          </a:p>
          <a:p>
            <a:pPr algn="just"/>
            <a:endParaRPr lang="ro-RO" dirty="0"/>
          </a:p>
          <a:p>
            <a:pPr algn="just"/>
            <a:r>
              <a:rPr lang="ro-RO" dirty="0"/>
              <a:t>Aplicația ar putea fi îmbunătățită prin antrenarea unei rețele neuronale pe baza tuturor deciziilor luate cu ajutorul algoritmului, dar și prin integrarea acesteia cu platformele Android sau </a:t>
            </a:r>
            <a:r>
              <a:rPr lang="ro-RO" dirty="0" err="1"/>
              <a:t>iOS</a:t>
            </a:r>
            <a:r>
              <a:rPr lang="ro-RO" dirty="0"/>
              <a:t>.</a:t>
            </a:r>
            <a:endParaRPr lang="en-US" dirty="0"/>
          </a:p>
          <a:p>
            <a:pPr marL="0" indent="0" algn="just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8156542"/>
      </p:ext>
    </p:extLst>
  </p:cSld>
  <p:clrMapOvr>
    <a:masterClrMapping/>
  </p:clrMapOvr>
  <p:transition spd="slow">
    <p:wip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5C645BD5-BAA9-44D3-BA1F-914FCAC5BD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RO" dirty="0"/>
              <a:t>Întrebări</a:t>
            </a:r>
            <a:endParaRPr lang="en-US" dirty="0"/>
          </a:p>
        </p:txBody>
      </p:sp>
      <p:sp>
        <p:nvSpPr>
          <p:cNvPr id="3" name="Substituent conținut 2">
            <a:extLst>
              <a:ext uri="{FF2B5EF4-FFF2-40B4-BE49-F238E27FC236}">
                <a16:creationId xmlns:a16="http://schemas.microsoft.com/office/drawing/2014/main" id="{9205650A-FA3F-44E1-BF9F-20790474FD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o-RO" dirty="0"/>
          </a:p>
          <a:p>
            <a:endParaRPr lang="ro-RO" dirty="0"/>
          </a:p>
          <a:p>
            <a:pPr marL="0" indent="0">
              <a:buNone/>
            </a:pPr>
            <a:endParaRPr lang="ro-RO" dirty="0"/>
          </a:p>
          <a:p>
            <a:r>
              <a:rPr lang="en-US" dirty="0"/>
              <a:t>https://github.com/ramongabor95/Licenta/tree/master</a:t>
            </a:r>
          </a:p>
        </p:txBody>
      </p:sp>
    </p:spTree>
    <p:extLst>
      <p:ext uri="{BB962C8B-B14F-4D97-AF65-F5344CB8AC3E}">
        <p14:creationId xmlns:p14="http://schemas.microsoft.com/office/powerpoint/2010/main" val="1682421755"/>
      </p:ext>
    </p:extLst>
  </p:cSld>
  <p:clrMapOvr>
    <a:masterClrMapping/>
  </p:clrMapOvr>
  <p:transition spd="slow">
    <p:wipe/>
  </p:transition>
</p:sld>
</file>

<file path=ppt/theme/theme1.xml><?xml version="1.0" encoding="utf-8"?>
<a:theme xmlns:a="http://schemas.openxmlformats.org/drawingml/2006/main" name="Temă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889</TotalTime>
  <Words>507</Words>
  <Application>Microsoft Office PowerPoint</Application>
  <PresentationFormat>Ecran lat</PresentationFormat>
  <Paragraphs>121</Paragraphs>
  <Slides>13</Slides>
  <Notes>0</Notes>
  <HiddenSlides>0</HiddenSlides>
  <MMClips>0</MMClips>
  <ScaleCrop>false</ScaleCrop>
  <HeadingPairs>
    <vt:vector size="6" baseType="variant">
      <vt:variant>
        <vt:lpstr>Fonturi utilizate</vt:lpstr>
      </vt:variant>
      <vt:variant>
        <vt:i4>3</vt:i4>
      </vt:variant>
      <vt:variant>
        <vt:lpstr>Temă</vt:lpstr>
      </vt:variant>
      <vt:variant>
        <vt:i4>1</vt:i4>
      </vt:variant>
      <vt:variant>
        <vt:lpstr>Titluri diapozitive</vt:lpstr>
      </vt:variant>
      <vt:variant>
        <vt:i4>13</vt:i4>
      </vt:variant>
    </vt:vector>
  </HeadingPairs>
  <TitlesOfParts>
    <vt:vector size="17" baseType="lpstr">
      <vt:lpstr>Arial</vt:lpstr>
      <vt:lpstr>Calibri</vt:lpstr>
      <vt:lpstr>Calibri Light</vt:lpstr>
      <vt:lpstr>Temă Office</vt:lpstr>
      <vt:lpstr>Blood Bank Management System</vt:lpstr>
      <vt:lpstr>Blood Bank Management</vt:lpstr>
      <vt:lpstr>Prezentare PowerPoint</vt:lpstr>
      <vt:lpstr>Prezentare PowerPoint</vt:lpstr>
      <vt:lpstr>Soluția propusă</vt:lpstr>
      <vt:lpstr>Arhitectura</vt:lpstr>
      <vt:lpstr>Algoritmul de decizie</vt:lpstr>
      <vt:lpstr>Experimente</vt:lpstr>
      <vt:lpstr>Prezentare PowerPoint</vt:lpstr>
      <vt:lpstr>Prezentare PowerPoint</vt:lpstr>
      <vt:lpstr>Demo</vt:lpstr>
      <vt:lpstr>Concluzii</vt:lpstr>
      <vt:lpstr>Întrebări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Blood Bank Management System</dc:title>
  <dc:creator>Shared.Ramon Gabor</dc:creator>
  <cp:lastModifiedBy>Shared.Ramon Gabor</cp:lastModifiedBy>
  <cp:revision>17</cp:revision>
  <dcterms:created xsi:type="dcterms:W3CDTF">2018-06-28T21:08:31Z</dcterms:created>
  <dcterms:modified xsi:type="dcterms:W3CDTF">2018-07-04T07:16:53Z</dcterms:modified>
</cp:coreProperties>
</file>